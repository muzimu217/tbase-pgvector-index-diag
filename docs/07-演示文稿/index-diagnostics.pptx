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029b46c38e48e0" /><Relationship Type="http://schemas.openxmlformats.org/officeDocument/2006/relationships/extended-properties" Target="/docProps/app.xml" Id="R7d70ff1eb83d4776" /><Relationship Type="http://schemas.openxmlformats.org/officeDocument/2006/relationships/officeDocument" Target="/ppt/presentation.xml" Id="Rc5aad4dcf93d49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4844d2bdd44ffa"/>
  </p:sldMasterIdLst>
  <p:notesMasterIdLst>
    <p:notesMasterId xmlns:r="http://schemas.openxmlformats.org/officeDocument/2006/relationships" r:id="R2966d7306c0244ca"/>
  </p:notesMasterIdLst>
  <p:sldIdLst>
    <p:sldId xmlns:r="http://schemas.openxmlformats.org/officeDocument/2006/relationships" id="256" r:id="R73dd5e7452de4689"/>
    <p:sldId xmlns:r="http://schemas.openxmlformats.org/officeDocument/2006/relationships" id="257" r:id="Rd825e6cd30ad4d2c"/>
    <p:sldId xmlns:r="http://schemas.openxmlformats.org/officeDocument/2006/relationships" id="258" r:id="Raf50bec7ae974e36"/>
    <p:sldId xmlns:r="http://schemas.openxmlformats.org/officeDocument/2006/relationships" id="259" r:id="R8e5b97fe5fc34991"/>
    <p:sldId xmlns:r="http://schemas.openxmlformats.org/officeDocument/2006/relationships" id="260" r:id="R1805eeeb3cff4d6e"/>
    <p:sldId xmlns:r="http://schemas.openxmlformats.org/officeDocument/2006/relationships" id="261" r:id="R0bf25e6c55b846c7"/>
    <p:sldId xmlns:r="http://schemas.openxmlformats.org/officeDocument/2006/relationships" id="262" r:id="Rdd1b83ce3cba48da"/>
    <p:sldId xmlns:r="http://schemas.openxmlformats.org/officeDocument/2006/relationships" id="263" r:id="Rcac6aa2d4c0a4d90"/>
    <p:sldId xmlns:r="http://schemas.openxmlformats.org/officeDocument/2006/relationships" id="264" r:id="R72835375f15d4530"/>
    <p:sldId xmlns:r="http://schemas.openxmlformats.org/officeDocument/2006/relationships" id="265" r:id="R9c67e720b7ff42fe"/>
    <p:sldId xmlns:r="http://schemas.openxmlformats.org/officeDocument/2006/relationships" id="266" r:id="R699c269f5a3b4b38"/>
    <p:sldId xmlns:r="http://schemas.openxmlformats.org/officeDocument/2006/relationships" id="267" r:id="Reb27dafdabab47a8"/>
    <p:sldId xmlns:r="http://schemas.openxmlformats.org/officeDocument/2006/relationships" id="268" r:id="Rc809cbfa23b24128"/>
    <p:sldId xmlns:r="http://schemas.openxmlformats.org/officeDocument/2006/relationships" id="269" r:id="R94c4a2fb1df74841"/>
    <p:sldId xmlns:r="http://schemas.openxmlformats.org/officeDocument/2006/relationships" id="270" r:id="R78a7d67d471346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b3e9e1d4314724" /><Relationship Type="http://schemas.openxmlformats.org/officeDocument/2006/relationships/slideMaster" Target="/ppt/slideMasters/slideMaster1.xml" Id="Rb74844d2bdd44ffa" /><Relationship Type="http://schemas.openxmlformats.org/officeDocument/2006/relationships/notesMaster" Target="/ppt/notesMasters/notesMaster1.xml" Id="R2966d7306c0244ca" /><Relationship Type="http://schemas.openxmlformats.org/officeDocument/2006/relationships/presProps" Target="/ppt/presProps.xml" Id="R7c1344f1fda241cd" /><Relationship Type="http://schemas.openxmlformats.org/officeDocument/2006/relationships/tableStyles" Target="/ppt/tableStyles.xml" Id="R78c0829d29c9487d" /><Relationship Type="http://schemas.openxmlformats.org/officeDocument/2006/relationships/slide" Target="/ppt/slides/slide1.xml" Id="R73dd5e7452de4689" /><Relationship Type="http://schemas.openxmlformats.org/officeDocument/2006/relationships/slide" Target="/ppt/slides/slide2.xml" Id="Rd825e6cd30ad4d2c" /><Relationship Type="http://schemas.openxmlformats.org/officeDocument/2006/relationships/slide" Target="/ppt/slides/slide3.xml" Id="Raf50bec7ae974e36" /><Relationship Type="http://schemas.openxmlformats.org/officeDocument/2006/relationships/slide" Target="/ppt/slides/slide4.xml" Id="R8e5b97fe5fc34991" /><Relationship Type="http://schemas.openxmlformats.org/officeDocument/2006/relationships/slide" Target="/ppt/slides/slide5.xml" Id="R1805eeeb3cff4d6e" /><Relationship Type="http://schemas.openxmlformats.org/officeDocument/2006/relationships/slide" Target="/ppt/slides/slide6.xml" Id="R0bf25e6c55b846c7" /><Relationship Type="http://schemas.openxmlformats.org/officeDocument/2006/relationships/slide" Target="/ppt/slides/slide7.xml" Id="Rdd1b83ce3cba48da" /><Relationship Type="http://schemas.openxmlformats.org/officeDocument/2006/relationships/slide" Target="/ppt/slides/slide8.xml" Id="Rcac6aa2d4c0a4d90" /><Relationship Type="http://schemas.openxmlformats.org/officeDocument/2006/relationships/slide" Target="/ppt/slides/slide9.xml" Id="R72835375f15d4530" /><Relationship Type="http://schemas.openxmlformats.org/officeDocument/2006/relationships/slide" Target="/ppt/slides/slide10.xml" Id="R9c67e720b7ff42fe" /><Relationship Type="http://schemas.openxmlformats.org/officeDocument/2006/relationships/slide" Target="/ppt/slides/slide11.xml" Id="R699c269f5a3b4b38" /><Relationship Type="http://schemas.openxmlformats.org/officeDocument/2006/relationships/slide" Target="/ppt/slides/slide12.xml" Id="Reb27dafdabab47a8" /><Relationship Type="http://schemas.openxmlformats.org/officeDocument/2006/relationships/slide" Target="/ppt/slides/slide13.xml" Id="Rc809cbfa23b24128" /><Relationship Type="http://schemas.openxmlformats.org/officeDocument/2006/relationships/slide" Target="/ppt/slides/slide14.xml" Id="R94c4a2fb1df74841" /><Relationship Type="http://schemas.openxmlformats.org/officeDocument/2006/relationships/slide" Target="/ppt/slides/slide15.xml" Id="R78a7d67d471346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e96e8b6c004d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292a3d704540aa" /><Relationship Type="http://schemas.openxmlformats.org/officeDocument/2006/relationships/notesMaster" Target="/ppt/notesMasters/notesMaster1.xml" Id="Rc84e2961571f44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bf9960995b457c" /><Relationship Type="http://schemas.openxmlformats.org/officeDocument/2006/relationships/notesMaster" Target="/ppt/notesMasters/notesMaster1.xml" Id="R5f8077e2729d4a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1eacb005f94d98" /><Relationship Type="http://schemas.openxmlformats.org/officeDocument/2006/relationships/notesMaster" Target="/ppt/notesMasters/notesMaster1.xml" Id="R12bb905eb5084f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022ae2db774cd4" /><Relationship Type="http://schemas.openxmlformats.org/officeDocument/2006/relationships/notesMaster" Target="/ppt/notesMasters/notesMaster1.xml" Id="R946761bc70ea4c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13c1192f4646af" /><Relationship Type="http://schemas.openxmlformats.org/officeDocument/2006/relationships/notesMaster" Target="/ppt/notesMasters/notesMaster1.xml" Id="R40451197bc584d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8e026270884398" /><Relationship Type="http://schemas.openxmlformats.org/officeDocument/2006/relationships/notesMaster" Target="/ppt/notesMasters/notesMaster1.xml" Id="Rc2329e1c2b9641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f6c7f34dff4b9e" /><Relationship Type="http://schemas.openxmlformats.org/officeDocument/2006/relationships/notesMaster" Target="/ppt/notesMasters/notesMaster1.xml" Id="Rfc603a0e60eb45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fea3277a604233" /><Relationship Type="http://schemas.openxmlformats.org/officeDocument/2006/relationships/notesMaster" Target="/ppt/notesMasters/notesMaster1.xml" Id="R5d524a4e978442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329241fdf94d02" /><Relationship Type="http://schemas.openxmlformats.org/officeDocument/2006/relationships/notesMaster" Target="/ppt/notesMasters/notesMaster1.xml" Id="R1d902a8cae2449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ecd4c47f1a4131" /><Relationship Type="http://schemas.openxmlformats.org/officeDocument/2006/relationships/notesMaster" Target="/ppt/notesMasters/notesMaster1.xml" Id="R2f9ff36999544d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e72b991f0f4ba3" /><Relationship Type="http://schemas.openxmlformats.org/officeDocument/2006/relationships/notesMaster" Target="/ppt/notesMasters/notesMaster1.xml" Id="R9b01b987247149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fb6b8981ae4892" /><Relationship Type="http://schemas.openxmlformats.org/officeDocument/2006/relationships/notesMaster" Target="/ppt/notesMasters/notesMaster1.xml" Id="R6201fdafb4f9461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e38309c85c4b06" /><Relationship Type="http://schemas.openxmlformats.org/officeDocument/2006/relationships/notesMaster" Target="/ppt/notesMasters/notesMaster1.xml" Id="R699081af928c43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b47c15432145bf" /><Relationship Type="http://schemas.openxmlformats.org/officeDocument/2006/relationships/notesMaster" Target="/ppt/notesMasters/notesMaster1.xml" Id="R18e6519886fb453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9a15e626c64247" /><Relationship Type="http://schemas.openxmlformats.org/officeDocument/2006/relationships/notesMaster" Target="/ppt/notesMasters/notesMaster1.xml" Id="R89e14921071d45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report/01-摘要.md</a:t>
            </a:r>
          </a:p>
          <a:p xmlns:a="http://schemas.openxmlformats.org/drawingml/2006/main">
            <a:r>
              <a:t>- report/build/OpenTenBase-pgvector-index-diagnostics-report.pdf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report/02-背景与任务对齐.md</a:t>
            </a:r>
          </a:p>
          <a:p xmlns:a="http://schemas.openxmlformats.org/drawingml/2006/main">
            <a:r>
              <a:t>- docs/03-技术文档/构建内存模型推导.md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docs/03-技术文档/构建内存模型推导.md</a:t>
            </a:r>
          </a:p>
          <a:p xmlns:a="http://schemas.openxmlformats.org/drawingml/2006/main">
            <a:r>
              <a:t>- sql/02_memory_model.sql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sql/02_memory_model.sql</a:t>
            </a:r>
          </a:p>
          <a:p xmlns:a="http://schemas.openxmlformats.org/drawingml/2006/main">
            <a:r>
              <a:t>- report/04-方法学.md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tools/validate_memory_model.sh</a:t>
            </a:r>
          </a:p>
          <a:p xmlns:a="http://schemas.openxmlformats.org/drawingml/2006/main">
            <a:r>
              <a:t>- tests/test_memory_model_matrix.sh</a:t>
            </a:r>
          </a:p>
          <a:p xmlns:a="http://schemas.openxmlformats.org/drawingml/2006/main">
            <a:r>
              <a:t>- report/04-方法学.md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report/figures/output/01_formula_log.png</a:t>
            </a:r>
          </a:p>
          <a:p xmlns:a="http://schemas.openxmlformats.org/drawingml/2006/main">
            <a:r>
              <a:t>- report/figures/data/memory_model_matrix.csv</a:t>
            </a:r>
          </a:p>
          <a:p xmlns:a="http://schemas.openxmlformats.org/drawingml/2006/main">
            <a:r>
              <a:t>- docs/04-数据与图表/memory-model-matrix.csv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report/figures/output/02_error_matrix.png</a:t>
            </a:r>
          </a:p>
          <a:p xmlns:a="http://schemas.openxmlformats.org/drawingml/2006/main">
            <a:r>
              <a:t>- docs/04-数据与图表/memory-model-matrix.csv</a:t>
            </a:r>
          </a:p>
          <a:p xmlns:a="http://schemas.openxmlformats.org/drawingml/2006/main">
            <a:r>
              <a:t>- tests/README.md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tools/validate_memory_model.sh</a:t>
            </a:r>
          </a:p>
          <a:p xmlns:a="http://schemas.openxmlformats.org/drawingml/2006/main">
            <a:r>
              <a:t>- report/08-局限与风险.md</a:t>
            </a:r>
          </a:p>
          <a:p xmlns:a="http://schemas.openxmlformats.org/drawingml/2006/main">
            <a:r>
              <a:t>- tests/README.md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report/figures/output/03_audit_table.png</a:t>
            </a:r>
          </a:p>
          <a:p xmlns:a="http://schemas.openxmlformats.org/drawingml/2006/main">
            <a:r>
              <a:t>- sql/04_catalog_introspect.sql</a:t>
            </a:r>
          </a:p>
          <a:p xmlns:a="http://schemas.openxmlformats.org/drawingml/2006/main">
            <a:r>
              <a:t>- sql/05_audit.sql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tests/audit-zero-param-20260818.log</a:t>
            </a:r>
          </a:p>
          <a:p xmlns:a="http://schemas.openxmlformats.org/drawingml/2006/main">
            <a:r>
              <a:t>- report/05-实现与架构.md</a:t>
            </a:r>
          </a:p>
          <a:p xmlns:a="http://schemas.openxmlformats.org/drawingml/2006/main">
            <a:r>
              <a:t>- docs/03-技术文档/参数调优说明.md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tests/README.md</a:t>
            </a:r>
          </a:p>
          <a:p xmlns:a="http://schemas.openxmlformats.org/drawingml/2006/main">
            <a:r>
              <a:t>- tests/tap_20260818_attempt3_initdb-node-type.log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report/08-局限与风险.md</a:t>
            </a:r>
          </a:p>
          <a:p xmlns:a="http://schemas.openxmlformats.org/drawingml/2006/main">
            <a:r>
              <a:t>- docs/01-需求文档/需求规格说明书.md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docs/01-需求文档/需求规格说明书.md</a:t>
            </a:r>
          </a:p>
          <a:p xmlns:a="http://schemas.openxmlformats.org/drawingml/2006/main">
            <a:r>
              <a:t>- docs/02-设计文档/总体架构设计.md</a:t>
            </a:r>
          </a:p>
          <a:p xmlns:a="http://schemas.openxmlformats.org/drawingml/2006/main">
            <a:r>
              <a:t>- docs/03-技术文档/技术选型说明.md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report/10-附录与复现命令.md</a:t>
            </a:r>
          </a:p>
          <a:p xmlns:a="http://schemas.openxmlformats.org/drawingml/2006/main">
            <a:r>
              <a:t>- report/figures/README.md</a:t>
            </a:r>
          </a:p>
          <a:p xmlns:a="http://schemas.openxmlformats.org/drawingml/2006/main">
            <a:r>
              <a:t>- docs/05-AI使用策略自我报告.md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report/01-摘要.md</a:t>
            </a:r>
          </a:p>
          <a:p xmlns:a="http://schemas.openxmlformats.org/drawingml/2006/main">
            <a:r>
              <a:t>- report/09-贡献与后续计划.md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82ed8e73b45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40050cfac144ae" /><Relationship Type="http://schemas.openxmlformats.org/officeDocument/2006/relationships/slideLayout" Target="/ppt/slideLayouts/slideLayout1.xml" Id="Rb82ab2a784bd4f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2ab2a784bd4f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7358805164970" /><Relationship Type="http://schemas.openxmlformats.org/officeDocument/2006/relationships/notesSlide" Target="/ppt/notesSlides/notesSlide1.xml" Id="R1a910587136d47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72a35e0d64dd2" /><Relationship Type="http://schemas.openxmlformats.org/officeDocument/2006/relationships/notesSlide" Target="/ppt/notesSlides/notesSlide2.xml" Id="R24dd7f6d945546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f2347d299464f" /><Relationship Type="http://schemas.openxmlformats.org/officeDocument/2006/relationships/notesSlide" Target="/ppt/notesSlides/notesSlide3.xml" Id="R35acbee3308348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1eabbc6db4ccd" /><Relationship Type="http://schemas.openxmlformats.org/officeDocument/2006/relationships/notesSlide" Target="/ppt/notesSlides/notesSlide4.xml" Id="R2e25848e685f4f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1817e33a4453e" /><Relationship Type="http://schemas.openxmlformats.org/officeDocument/2006/relationships/notesSlide" Target="/ppt/notesSlides/notesSlide5.xml" Id="R90096d4785d54b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d8df37dd84081" /><Relationship Type="http://schemas.openxmlformats.org/officeDocument/2006/relationships/image" Target="/ppt/media/image.png" Id="R70869287f4de45e2" /><Relationship Type="http://schemas.openxmlformats.org/officeDocument/2006/relationships/notesSlide" Target="/ppt/notesSlides/notesSlide6.xml" Id="Rb82e8fa8f0a945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b08b02ab64b6a" /><Relationship Type="http://schemas.openxmlformats.org/officeDocument/2006/relationships/image" Target="/ppt/media/image2.png" Id="Rb4b94efb2aff4139" /><Relationship Type="http://schemas.openxmlformats.org/officeDocument/2006/relationships/notesSlide" Target="/ppt/notesSlides/notesSlide7.xml" Id="R5740088b793f4e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d62c843fd44e5" /><Relationship Type="http://schemas.openxmlformats.org/officeDocument/2006/relationships/notesSlide" Target="/ppt/notesSlides/notesSlide8.xml" Id="Ra2b56d05548f4c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895c1e42f4778" /><Relationship Type="http://schemas.openxmlformats.org/officeDocument/2006/relationships/image" Target="/ppt/media/image3.png" Id="R45f0119b2b444bf2" /><Relationship Type="http://schemas.openxmlformats.org/officeDocument/2006/relationships/notesSlide" Target="/ppt/notesSlides/notesSlide9.xml" Id="R05ee041e55b342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3451fcc5e47f3" /><Relationship Type="http://schemas.openxmlformats.org/officeDocument/2006/relationships/notesSlide" Target="/ppt/notesSlides/notesSlide10.xml" Id="R81be869e480e49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c6a6311d94377" /><Relationship Type="http://schemas.openxmlformats.org/officeDocument/2006/relationships/notesSlide" Target="/ppt/notesSlides/notesSlide11.xml" Id="R6ae6cb0720b54a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e6241595d4c72" /><Relationship Type="http://schemas.openxmlformats.org/officeDocument/2006/relationships/notesSlide" Target="/ppt/notesSlides/notesSlide12.xml" Id="Ra5735742ac9d4c8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7f229c45b4565" /><Relationship Type="http://schemas.openxmlformats.org/officeDocument/2006/relationships/notesSlide" Target="/ppt/notesSlides/notesSlide13.xml" Id="R94de61699d4849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e07319f0f4700" /><Relationship Type="http://schemas.openxmlformats.org/officeDocument/2006/relationships/notesSlide" Target="/ppt/notesSlides/notesSlide14.xml" Id="Rbe0ca467142f40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8e7861f284eae" /><Relationship Type="http://schemas.openxmlformats.org/officeDocument/2006/relationships/notesSlide" Target="/ppt/notesSlides/notesSlide15.xml" Id="R828a116a045b48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81BC0-13B8-4881-8D1E-813EA5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E7447-250A-4B32-B779-F29C0A35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3C5FD"/>
                </a:solidFill>
                <a:latin typeface="Arial"/>
                <a:ea typeface="Arial"/>
                <a:cs typeface="Arial"/>
              </a:rPr>
              <a:t>OPEN TENBASE / PGVECTOR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10FDE-24A6-4ACF-8583-E6132C7E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00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向量索引构建与诊断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AA9AC-A531-4EF1-ACCC-61942CEE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把内存模型和目录风险变成可验证的零参数工具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E58EF-3E28-4311-943A-9C7E9544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D713A-EECC-4738-B228-695CDFB3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34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FDBF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FDBFE"/>
                </a:solidFill>
                <a:latin typeface="Arial"/>
                <a:ea typeface="Arial"/>
                <a:cs typeface="Arial"/>
              </a:rPr>
              <a:t>从 2162× 错误到 20/20 全零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BBD4E-8BBF-4944-986E-D138EEE0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实战开发成果汇报 · 2026</a:t>
            </a:r>
          </a:p>
        </p:txBody>
      </p:sp>
    </p:spTree>
    <p:extLst>
      <p:ext uri="{BB962C8B-B14F-4D97-AF65-F5344CB8AC3E}">
        <p14:creationId xmlns:p14="http://schemas.microsoft.com/office/powerpoint/2010/main" val="14038436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F3ABC-5786-4230-836B-2F1E749B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 / STAKES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F585F-E581-4DD8-9635-A1348B75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旧公式不是小误差，而是方向性错误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87BD7-F1A5-4C28-B2EA-50C082B3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列表规模越大，错误越会把真实风险推远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6E10A-2DDA-49B7-AAF6-3EE8C18C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E1620-3D5E-4E7F-9FE8-46DE52BB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83E60-C2F1-4102-90F3-6E44D857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2162×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B2DB9-B1EA-4B33-B395-99756727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旧公式对 high-list 场景的低估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16C30-5B82-4FEB-B9B6-E4C88A99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17,459 MB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326B7-8732-49F7-BA28-82B8FB2D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14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源代码语义推导值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31C74-439A-4188-85C4-6FB1387F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3.7 GB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BF336-2D87-42D7-AC02-1A8D0EBA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14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dev-server 可用内存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9E28A-9B22-4EDB-A111-E62A144D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D2B64-E1BF-4EC4-B622-C1CBCD55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问题定义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FA9D8-E174-45F6-9839-1C949142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17904006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97D4E6-4AFB-4D02-8DC8-5E3FF038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 / 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4A8BC-B829-4763-AA29-1D924546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先修正语义，再写 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606B2-8396-4E26-920F-B0FD66A9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两次复核都以 ivfkmeans.c 和后端原文为准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DAFB1-008F-48A3-8F5B-47B31054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54B03-7724-4FB0-9061-AE892F21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7AE78-4085-4A80-B278-71A88250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8A270-3FD8-44D8-8E2A-415C5511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90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样本容量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4CE24-DF7C-4751-91A9-A7007667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90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maxlen × sizeof(vector)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00555-F03F-4541-8FD6-BB66EEAD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908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目标容量，不是实际行数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E689C-6B3D-488E-87FA-6CED60FE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464EB-7CB7-45EF-AD25-77A4ABA3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k-means 矩阵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F4ED7-A6F7-4FAC-9CE2-4F0E573F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43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N=min(rows,T)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53227-1C83-4469-A3CF-A34B8A11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433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只按采样行数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08EF3-DEEA-4A40-A903-DE26CCB7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A53FE-51F3-4196-995D-85FFD2BD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95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列表上限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8F4237-19DA-4796-A1FD-16464DAA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95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LEAST(32768, …)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804F76-F319-47B4-BD4B-AB3A8413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958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与上游检查点一致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9B6B3A-005C-40CD-A614-6F69A696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13CC64-821E-4192-9F90-163174D5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语义校正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89EEF2-54B7-45EA-BF25-B3E0E6ED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9006249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28C9F-A8E8-4D51-A65D-C5C319BE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 /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F53CB-2807-4B24-8680-62099321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 与 N 分开，模型才不会把两个世界混在一起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6A580-2930-4951-B6CE-C5DC31F7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目标容量决定 samplesSize；实际行数只决定 k-means 计算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0C808-2F94-494C-9303-E5081F84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5426B-8857-4616-B1A2-57AB0182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C2140-9EB4-4646-9571-DE9BBB34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98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 = max(10000, 50 × lists)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E138B-3800-428F-AA16-BAC2270F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N = min(rows, 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7DFA5-CE3F-464D-B1FB-99AEF0FC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57291-55DE-4E52-BE20-97A76AFC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43475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这两个量分开建模，是 7147 / 17459 MB 修正的关键。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C8AED-F824-4C86-8BCF-76ACDDB1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48637-BBD8-4A47-84C1-7CF0C445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模型结构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E487F-9642-4ED4-85E3-76A56A57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9189078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6C6A2E-636F-4C39-8B6B-E3DF9D96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04 /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F8078-C61D-4390-9709-64CAA5E5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验证矩阵先写状态机，再写数字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5BC09-8628-4B78-9DDB-58BC0CF7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observed 为空时只能是 blocked，不能把预测值写回观测列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ED5C3-7CA0-4B9F-B9E6-2C4CD23A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AB7AD-C940-452E-B33F-473D316D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B2C99-A36E-48E5-ADE2-C5E8AB80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ED968-AF8D-452D-839B-42FCBFAD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predicted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7A6D3-FC03-4D76-8B1A-EDB38213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模型输出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7018F-E29F-4D6B-9591-482D73F6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861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9FD1B-F592-47E7-89EB-4D5D0DE8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813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BC3F7-194D-4625-993C-7848D064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0099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B84CC-84F7-426F-8CD7-E0602270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290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缺后端日志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754CC5-A698-4A6A-94B5-411F1CD0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861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07FFE2-0D11-4CF2-8022-78903CD0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8F5A0-3E6D-42D1-904E-A6982D1E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99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92029-390F-46A5-81EB-2343A208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290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原始 stderr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A5E23-7F19-4805-A017-D9CCBEB1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861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16955-1B7A-4888-9D39-F1A9C549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813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DB168A-E8D5-460C-980A-16216A96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0099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pass/fail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0BC681-BD7E-4372-BE8A-F8C79473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4290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误差判定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506CCB-3124-4938-8780-E514BBC1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状态机把“没有端点”记录成结果，而不是把结果伪造出来。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630CA2-AFBF-49D5-A25A-3502615D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9B13C9-7F79-40DC-861F-E67D61FE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实验设计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6EFD0E-1FAB-41BC-9469-C71CF9BB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3481285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71A54-BCE3-4686-9D66-885E5384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05 /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C82B2-6E02-4515-8116-17F52D27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新旧公式的差距随列表规模拉开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6692E-3D4B-4392-A41D-B8F9A0B7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对数轴让错误的数量级一眼可见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DDFB7-881C-4A7F-A138-3171148F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EE8F5-F98E-479B-A8DC-3CD61ED5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69287f4de45e2"/>
          <a:stretch xmlns:a="http://schemas.openxmlformats.org/drawingml/2006/main"/>
        </p:blipFill>
        <p:spPr>
          <a:xfrm xmlns:a="http://schemas.openxmlformats.org/drawingml/2006/main">
            <a:off x="824066" y="2133600"/>
            <a:ext cx="7152968" cy="3695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F0AF2-E7F0-43E9-AB87-FF9AF758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17,459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76485-2F5C-4894-838A-F99086A6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71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MB required (lists=32768)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3E718-6990-44F0-88A4-F509EC24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148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旧值 1,850 MB 只是低估，不是另一种实现。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2A1A4A-7FE5-4D01-9E23-7EFEFF2C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A4786-63ED-4B0B-BA60-F6C86FB9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公式对比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C81ACF-F68B-483F-BBE8-4C3F06D4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8149529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AC5AB-8EE9-445E-8AD9-3DADA0D4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06 /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778A9-002E-4318-9A86-3434161B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20 组误差全部为零，但每组都有原始日志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63405-86D1-4ABF-A7C5-F6590CD6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预测值和后端错误来自同一检查点；零误差是复刻证据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1D669-1C6A-46F0-85B3-172441F4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4B06B-A65D-4635-8176-6E0E85D4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94efb2aff4139"/>
          <a:stretch xmlns:a="http://schemas.openxmlformats.org/drawingml/2006/main"/>
        </p:blipFill>
        <p:spPr>
          <a:xfrm xmlns:a="http://schemas.openxmlformats.org/drawingml/2006/main">
            <a:off x="824066" y="2133600"/>
            <a:ext cx="7152968" cy="3695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21354-2402-450E-96A6-A6D9DB39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241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20/20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B646B-706F-4D43-A23D-D8A9DDED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71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1198C-D192-491F-B88E-CB599EDF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052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0.0000%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6A790-56B4-4B5A-90B9-B6CA44BB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52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每组误差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49ACE-296A-41C5-AB2B-260D6525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6F0C3-08F4-4F7D-8293-3F7EBAF6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G4 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C6DA6-E481-4F2C-89B4-78D9C8D7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6963917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DD772-E801-4380-9186-88AE051E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07 /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E1BA8-8981-4E07-BD9A-2328DCE9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真实构建与阈值触发分层，避免 OOM 叙事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55DD2-258C-4164-B8B4-C01CE9BC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15 real + 5 real-threshold：两种证据回答不同问题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0D8E2-37AA-48BE-9C06-DB5C19D3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D2F6D-14D4-4017-916C-8DE81642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319D6-8729-49DB-9A31-DBA368B6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476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E59FC-7ECF-442A-A969-316ECFCF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15 real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3C287-AE9C-424B-A055-08C4A1DC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小 / 饱和场景真实建索引</a:t>
            </a:r>
          </a:p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观察后端实际报错或通过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60383-A206-4475-859C-B199AA5F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476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6B8F8-C6C7-4F9F-BE06-B2281438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5 real-threshold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2721A-43B1-421B-B839-7099CEC7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242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大场景降低 maintenance_work_mem</a:t>
            </a:r>
          </a:p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触发同源检查点，不尝试 OOM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F85B9-320E-494F-B274-1BF45E4F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F8273-16D6-4649-95A2-42228B70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证据边界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114D7-91F3-4682-B2AF-958A1AB4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10089416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C2665F-FEB6-49E5-985E-D2A1E14E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08 /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6C588-8E5D-4B1C-B812-FDD85070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零参数入口把目录事实交给系统目录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01F8A-EF23-4B3A-A0B5-E129C57C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调用者不再重复传表名、维度、行数或 lists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69C38-11C7-42AD-AEEB-0F82FD75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D7047-727D-4AF6-A5D5-8F5308F3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0119b2b444bf2"/>
          <a:stretch xmlns:a="http://schemas.openxmlformats.org/drawingml/2006/main"/>
        </p:blipFill>
        <p:spPr>
          <a:xfrm xmlns:a="http://schemas.openxmlformats.org/drawingml/2006/main">
            <a:off x="824066" y="2133600"/>
            <a:ext cx="7152968" cy="3695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FF4DB-846F-41B7-A17E-BB52ECE9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5D2AA-39F1-425E-9AEC-33FD8B7A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71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函数参数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D4EC8-657C-4C48-95E4-54CE8270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1480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从 pg_class / pg_attribute / reloptions 自动取参。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F46B6-2F48-4ED9-AAA7-2FCA27F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EDA8B-3D47-4D5E-B596-54F2EF75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G10 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16D58-1F3A-4534-A768-840C488B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15482587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2F93F9-FB23-4920-804A-951E1494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09 /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F6CE2-6398-4F9E-AAF7-D1479652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审计输出主动保留“不适用”字段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CC710-483E-41E7-AB6D-8B984461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HNSW 不硬填 IVFFlat 字段；风险提示不冒充 EXPLAIN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61689-8C5C-4E1F-A736-FAABC234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2DC5B-6DCE-4E9B-B1E6-C4FD6D33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7D916-2E7D-4D97-8261-D8278A67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133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77AA7-8EF9-487A-BC10-175ED15C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00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IVFFlat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448B5-115E-4ED3-9EAF-F07E02C7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lists=10 · recommended_lists=1 · probes=4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2E66E-75F2-4576-8488-AC9BCC13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003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catalog +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D747C-37B3-4806-B26B-1994CF26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133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F457C-5591-47EB-910F-76792EDE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HNSW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FC7939-063D-4954-B7BF-B05217B6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528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lists / probes 留空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EE217-E777-4282-AD93-B9A5B64E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IVFFlat-only checks not applied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16473-1691-4FC7-9966-BB2E7AA7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133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F7A50-EEE2-49A3-AFF5-32001CF3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05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possible_seqscan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2B222-93BD-4E81-BE4A-ACD6B755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053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37DD56-CDCF-44FE-B65C-4751FDFC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053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static catalog risk, not EXPLAIN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B850DB-E06D-4B0C-B422-F7857203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819D86-A301-401E-803A-8066DDBF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边界意识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2B98F7-AAF1-4D2C-9B6F-133CB3E4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15765384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CE396-774B-4C3D-9A30-F4660A1B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10 / 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BA3EA-8393-4B6D-8302-7B377224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TAP 摸底揭示的是框架不兼容，不是 44 个失败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F8628-52D2-44A2-993C-6262A078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1 bailout + 43 unexecuted：先把环境事实说准确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89B3C-7F6E-4E5D-A729-F234AF15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85F1F-1018-41B7-A51A-374A5FBF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B56F4-E82A-4AFE-9366-6874D344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0/44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0BD89-3761-4735-82EE-51A62ED1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脚本通过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36730-CA2E-4EC6-B88D-91A83C6E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2BA8D-F996-4930-A1CD-BE1CCF93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bailout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8CFD9-8030-4577-B471-CBD45BEF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4E5C5-C93C-4C5A-A960-7CC20E15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4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未执行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D40F06-1EDF-4CDB-8822-2BDA2707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B644E-A849-4BC0-B70B-76E35BC8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95825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下一步是给 Cluster.pm 注入 OpenTenBase 节点类型，再做逐用例兼容表。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C05BF-CD8B-44E4-8041-C3F330E2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78C91-7001-4423-860F-BAE17BA3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平台发现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12154-3ECD-4F1A-838C-EBAE65E8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8647322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33FFB-2C28-4858-9B66-90E08BEE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11 /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95C13-C5E1-4DC2-9A6B-BAE4F450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验证结论不越过证据边界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A6391-1BA7-4420-B041-5DA6480B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把延期项写出来，报告才可复现也可反驳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FF380-3CF9-48FD-B2E5-3BB68ADF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0DA7C-80B9-4EAE-9EA9-68E85CB2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FE805-EDFB-4062-82F8-EDBDCBE9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3365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69F8D-750E-490A-AE2A-79A8FDAA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74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已通过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7F974-EFEE-4FFB-8358-F27C7F59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G4 内存模型 · G10 零参数审计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A0AF8-59AD-44E4-ABD0-5255F023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1C47E-E092-4CBA-9DEA-C2757797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已记录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C985A-552F-4626-918F-8A8C2A97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86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TAP 适配器不兼容 · W3 构建耗时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145CF-7505-4F98-BA1B-AEC706BC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976C1-28F5-4DBB-AD52-C57DEF27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未宣称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9213BA-5B00-4B62-9017-3024D0FF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148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巨型索引成功构建 · P95/P99 · 分布式 recall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725D1-844C-4F9D-93CE-1E7BAA73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8ED53-63C1-4A0D-9EF1-E0DE944B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局限与风险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34A3A7-DD4B-4EE0-92F1-54DE009D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782660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C7968D-D759-4A3C-80CE-EC1878D1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12 /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73F29-FDC1-4D1E-85D3-C9978240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三段链路把研究变成可交付工具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1D068-75D7-4422-92BA-1FACDD82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需求 → 设计 → 技术 → 验证，每一步都能追溯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B07FA-F458-4986-B30E-2032F16E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351DB-2A00-49E2-9788-EE666760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9D524-6B8D-47E6-9A90-6130D7D7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23BB4-AD55-453F-AEAA-6B25661D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52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需求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28225-41E7-4E8B-A9BB-A91400CF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290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RQ-101~403</a:t>
            </a:r>
          </a:p>
          <a:p xmlns:a="http://schemas.openxmlformats.org/drawingml/2006/main">
            <a:pPr algn="ctr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通过 / 延期分明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6B81C-1273-412C-965B-DC5F6C21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3375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FF823-E37B-4AE8-AA29-9B5F909B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28730-CF3D-452D-A5FA-435685DD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52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设计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5D9A4-E976-4C0C-A2EE-EED7006B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290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架构 + RQ</a:t>
            </a:r>
          </a:p>
          <a:p xmlns:a="http://schemas.openxmlformats.org/drawingml/2006/main">
            <a:pPr algn="ctr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追溯矩阵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CAEEF-17FD-4366-A03C-34BDDB8A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BE562-9586-44CE-9A0B-A3930D2F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14625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1F6A7-E9E2-47F4-8C5E-DDE3315A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52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技术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4BE361-B914-4417-A2E5-42B8EA19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290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SQL + shell</a:t>
            </a:r>
          </a:p>
          <a:p xmlns:a="http://schemas.openxmlformats.org/drawingml/2006/main">
            <a:pPr algn="ctr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源代码语义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CC73F-9826-4B31-A7D6-864E5A6C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48F478-EF6B-4006-8AEB-0762E4BC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14625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100F7-9457-489C-93AC-7BFE42BE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378D01-1C58-4B4E-A90C-985419BF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CSV + stderr</a:t>
            </a:r>
          </a:p>
          <a:p xmlns:a="http://schemas.openxmlformats.org/drawingml/2006/main">
            <a:pPr algn="ctr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SHA256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CA2E85-7EAA-4FB6-AFA1-2B72A59C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123DAC-48E7-4F91-A432-24CB6D9C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三段式文档链路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3A99AD-FF67-4BAF-87DC-D46227CE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1293707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9674D-B152-4CA0-8F77-35836220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13 /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B581E-5F2A-4F13-9622-92D6E711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一条命令重建图表，一份清单锁定证据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1D097-104C-4060-ADC4-C67F8B43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数据、脚本、成品和哈希同时入库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07FB3-1B6E-4FF4-A2BF-D188026B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AE6E3-45DC-4A5B-BA87-171F5BB9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560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31DE7-BBFD-4390-B062-686FE369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590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report/figures/scripts/ 从 CSV 生成 SVG/PNG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docs/04-数据与图表/SHA256SUMS 逐项校验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report/build.sh 生成 15 页 PDF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tests/README.md 给出端点与 TAP 复现命令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AI 使用边界和两次修正写入 docs/05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BD74C-1FD2-4F6D-B26C-5B4D22CF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098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4ACE8-A4D7-4F84-945C-5B14FA67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2190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source</a:t>
            </a:r>
          </a:p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  ↓</a:t>
            </a:r>
          </a:p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run / hash</a:t>
            </a:r>
          </a:p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  ↓</a:t>
            </a:r>
          </a:p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figure / 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EC102-35F1-4097-BFC0-12972747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1A6DD-F96B-4455-A450-D148DC67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交付结构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185D6-D0DC-480D-8603-EC44BC31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1796293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865BE-8BBE-49EF-B66F-BF33FC44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D56D0-D0BD-4AF6-9AA7-86216D97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OPEN TENBASE / PGVECTOR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682B2-28C3-40D9-868D-96F9EDC6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00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06694-7611-4383-8187-FCAE45C7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不是把旧公式换成新公式，而是让模型回到源码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8A404-5C3B-46E2-BED4-75BAAF26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70665-F862-4623-B24A-CDFD16FC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34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20/20 全零 + 零参数审计 + 边界诚实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2CD7B-F3BD-45D0-9CF8-03F42DD5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0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6070"/>
                </a:solidFill>
                <a:latin typeface="Arial"/>
                <a:ea typeface="Arial"/>
                <a:cs typeface="Arial"/>
              </a:rPr>
              <a:t>实战开发成果汇报 ·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D818E-1CBD-4C72-B416-029A029C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5B731-F4A3-4FF1-B021-15C2A0F2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结束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E9E7F-C45F-4C4E-8C27-E541A866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9605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OpenTenBase · reproducible evidence</a:t>
            </a:r>
          </a:p>
        </p:txBody>
      </p:sp>
    </p:spTree>
    <p:extLst>
      <p:ext uri="{BB962C8B-B14F-4D97-AF65-F5344CB8AC3E}">
        <p14:creationId xmlns:p14="http://schemas.microsoft.com/office/powerpoint/2010/main" val="6055248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2026-08-18T10:56:15.2000000Z</dcterms:created>
  <dcterms:modified xsi:type="dcterms:W3CDTF">2026-08-18T10:56:15.2000000Z</dcterms:modified>
</coreProperties>
</file>